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66" r:id="rId15"/>
    <p:sldId id="267" r:id="rId16"/>
    <p:sldId id="268" r:id="rId17"/>
    <p:sldId id="269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57CF283-70D4-718D-D87E-D6A4E4082CCD}">
          <p14:sldIdLst>
            <p14:sldId id="256"/>
          </p14:sldIdLst>
        </p14:section>
        <p14:section name="Why" id="{DDF2259C-250B-2581-9C64-DE2761653750}">
          <p14:sldIdLst>
            <p14:sldId id="257"/>
            <p14:sldId id="258"/>
            <p14:sldId id="259"/>
          </p14:sldIdLst>
        </p14:section>
        <p14:section name="Features" id="{7C929477-2B69-4C2A-E0BF-37D99F33842A}">
          <p14:sldIdLst>
            <p14:sldId id="260"/>
            <p14:sldId id="261"/>
            <p14:sldId id="262"/>
            <p14:sldId id="263"/>
            <p14:sldId id="264"/>
          </p14:sldIdLst>
        </p14:section>
        <p14:section name="Proof" id="{6167F062-9F1B-6CB1-F2D8-765777C47B9B}">
          <p14:sldIdLst>
            <p14:sldId id="265"/>
            <p14:sldId id="270"/>
            <p14:sldId id="271"/>
            <p14:sldId id="272"/>
          </p14:sldIdLst>
        </p14:section>
        <p14:section name="Trust" id="{9C22EBA6-F5A3-F90F-B774-D02DF229442F}">
          <p14:sldIdLst>
            <p14:sldId id="266"/>
            <p14:sldId id="267"/>
            <p14:sldId id="268"/>
          </p14:sldIdLst>
        </p14:section>
        <p14:section name="Close" id="{8E4F7B9C-9A9E-F7CF-C5CA-59526DF17789}">
          <p14:sldIdLst>
            <p14:sldId id="269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B3C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B3B3C"/>
                </a:solidFill>
                <a:latin typeface="+mn-lt"/>
              </a:rPr>
              <a:t>Monthly revenue, ₹ lakh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(lakh)</c:v>
                </c:pt>
              </c:strCache>
            </c:strRef>
          </c:tx>
          <c:spPr>
            <a:solidFill>
              <a:srgbClr val="1FA89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324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39.5</c:v>
                </c:pt>
                <c:pt idx="1">
                  <c:v>39.299999999999997</c:v>
                </c:pt>
                <c:pt idx="2">
                  <c:v>32.799999999999997</c:v>
                </c:pt>
                <c:pt idx="3">
                  <c:v>30.6</c:v>
                </c:pt>
                <c:pt idx="4">
                  <c:v>34.799999999999997</c:v>
                </c:pt>
                <c:pt idx="5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85-4F7A-B762-F178881A97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C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5E3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C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484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clarity every day, without needing an accounting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2A541"/>
                </a:solidFill>
              </a:rPr>
              <a:t>PRISM PULSE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exactly how your business is doing, every single day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8FD3C8"/>
                </a:solidFill>
              </a:rPr>
              <a:t>Intelligence &amp; Analytics for owners who run the business, not just watch it.</a:t>
            </a:r>
            <a:endParaRPr lang="en-US" sz="1600" dirty="0"/>
          </a:p>
        </p:txBody>
      </p:sp>
      <p:sp>
        <p:nvSpPr>
          <p:cNvPr id="5" name="pulse ring 0"/>
          <p:cNvSpPr/>
          <p:nvPr/>
        </p:nvSpPr>
        <p:spPr>
          <a:xfrm>
            <a:off x="6766560" y="822960"/>
            <a:ext cx="2926080" cy="29260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6" name="pulse ring 1"/>
          <p:cNvSpPr/>
          <p:nvPr/>
        </p:nvSpPr>
        <p:spPr>
          <a:xfrm>
            <a:off x="7223760" y="1280160"/>
            <a:ext cx="2011680" cy="20116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7" name="pulse ring 2"/>
          <p:cNvSpPr/>
          <p:nvPr/>
        </p:nvSpPr>
        <p:spPr>
          <a:xfrm>
            <a:off x="7680960" y="1737360"/>
            <a:ext cx="1097280" cy="10972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0" descr="Char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01168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owners find out too late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Scattered spreadsheets badg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5" name="Image 0" descr="Scattered spreadshee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Scattered spreadsheets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Sales in one file, expenses in another, nothing ties together.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9" name="End-of-month surprises badge"/>
          <p:cNvSpPr/>
          <p:nvPr/>
        </p:nvSpPr>
        <p:spPr>
          <a:xfrm>
            <a:off x="3566160" y="173736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0" name="Image 1" descr="End-of-month surpris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18973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End-of-month surprises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200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You learn about a margin leak weeks after it started.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Unpaid bills &amp; dues badge"/>
          <p:cNvSpPr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5" name="Image 2" descr="Unpaid bills &amp; du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0" y="18973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Unpaid bills &amp; dues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200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Who owes you, and whom you owe, lives in someone's head.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steps, a couple of minutes a day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17320" y="1828800"/>
            <a:ext cx="1783080" cy="0"/>
          </a:xfrm>
          <a:prstGeom prst="line">
            <a:avLst/>
          </a:prstGeom>
          <a:noFill/>
          <a:ln w="25400">
            <a:solidFill>
              <a:srgbClr val="8FD3C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Enter today's sales, purchases and expenses: one by one, in bulk, or imported from a spreadsheet.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3337560" y="1463040"/>
            <a:ext cx="731520" cy="7315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206240" y="1828800"/>
            <a:ext cx="1783080" cy="0"/>
          </a:xfrm>
          <a:prstGeom prst="line">
            <a:avLst/>
          </a:prstGeom>
          <a:noFill/>
          <a:ln w="25400">
            <a:solidFill>
              <a:srgbClr val="8FD3C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33756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crunch it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Margins, trends, ledgers and comparisons are produced automatically.</a:t>
            </a:r>
            <a:endParaRPr lang="en-US" sz="1500" dirty="0"/>
          </a:p>
        </p:txBody>
      </p:sp>
      <p:sp>
        <p:nvSpPr>
          <p:cNvPr id="13" name="step 3"/>
          <p:cNvSpPr/>
          <p:nvPr/>
        </p:nvSpPr>
        <p:spPr>
          <a:xfrm>
            <a:off x="6126480" y="146304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decide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See what's driving growth and what's quietly draining profit, before it becomes a problem.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for any business with daily </a:t>
            </a:r>
            <a:r>
              <a:rPr lang="en-US" sz="2800" dirty="0"/>
              <a:t>S</a:t>
            </a: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ales / Revenue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Retail badge"/>
          <p:cNvSpPr/>
          <p:nvPr/>
        </p:nvSpPr>
        <p:spPr>
          <a:xfrm>
            <a:off x="1234440" y="164592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5" name="Image 0" descr="Reta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34" y="3748158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Hospitals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Restaurants badge"/>
          <p:cNvSpPr/>
          <p:nvPr/>
        </p:nvSpPr>
        <p:spPr>
          <a:xfrm>
            <a:off x="3291840" y="164592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9" name="Image 1" descr="Restaura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7570" y="17716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6974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Restaurants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2" name="E-commerce badge"/>
          <p:cNvSpPr/>
          <p:nvPr/>
        </p:nvSpPr>
        <p:spPr>
          <a:xfrm>
            <a:off x="5349240" y="164592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3" name="Image 2" descr="E-commer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970" y="17716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548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E-commerce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7208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Services badge"/>
          <p:cNvSpPr/>
          <p:nvPr/>
        </p:nvSpPr>
        <p:spPr>
          <a:xfrm>
            <a:off x="7406640" y="164592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7" name="Image 3" descr="Servic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2370" y="177165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Services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30175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0" name="Wholesale badge"/>
          <p:cNvSpPr/>
          <p:nvPr/>
        </p:nvSpPr>
        <p:spPr>
          <a:xfrm>
            <a:off x="1234440" y="320040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1" name="Image 4" descr="Wholesa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0170" y="332613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Wholesale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2606040" y="30175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4" name="Manufacturing badge"/>
          <p:cNvSpPr/>
          <p:nvPr/>
        </p:nvSpPr>
        <p:spPr>
          <a:xfrm>
            <a:off x="3291840" y="320040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5" name="Image 5" descr="Manufactur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7570" y="332613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6974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Manufacturing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4663440" y="30175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8" name="Hospitals badge"/>
          <p:cNvSpPr/>
          <p:nvPr/>
        </p:nvSpPr>
        <p:spPr>
          <a:xfrm>
            <a:off x="5349240" y="320040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9" name="Image 6" descr="Hospital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4252" y="1750536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754880" y="3740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Retail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6720840" y="30175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2" name="...and more badge"/>
          <p:cNvSpPr/>
          <p:nvPr/>
        </p:nvSpPr>
        <p:spPr>
          <a:xfrm>
            <a:off x="7406640" y="320040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33" name="Image 7" descr="...and mo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2370" y="3326130"/>
            <a:ext cx="251460" cy="2514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8122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...and more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0" name="Image 0" descr="Retail">
            <a:extLst>
              <a:ext uri="{FF2B5EF4-FFF2-40B4-BE49-F238E27FC236}">
                <a16:creationId xmlns:a16="http://schemas.microsoft.com/office/drawing/2014/main" id="{8A49FDBA-F92F-E591-C399-8280B457D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12" y="3337849"/>
            <a:ext cx="251460" cy="251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daily entry &amp; imports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Capture the day in seconds. No accounting background needed, just enter what happened.</a:t>
            </a:r>
            <a:endParaRPr lang="en-US" sz="1600" dirty="0"/>
          </a:p>
        </p:txBody>
      </p:sp>
      <p:sp>
        <p:nvSpPr>
          <p:cNvPr id="4" name="Fast daily entry &amp; imports badge"/>
          <p:cNvSpPr/>
          <p:nvPr/>
        </p:nvSpPr>
        <p:spPr>
          <a:xfrm>
            <a:off x="1118383" y="3108960"/>
            <a:ext cx="1005840" cy="10058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5" name="Image 0" descr="Fast daily entry &amp; impor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843" y="336042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23360" y="128016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152704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280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Quick add:  </a:t>
            </a:r>
            <a:r>
              <a:rPr lang="en-US" sz="1400" dirty="0">
                <a:solidFill>
                  <a:schemeClr val="tx1"/>
                </a:solidFill>
              </a:rPr>
              <a:t>sales, expenses and purchases from the dashboard.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23360" y="214884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239572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Bulk entry:  </a:t>
            </a:r>
            <a:r>
              <a:rPr lang="en-US" sz="1400" dirty="0">
                <a:solidFill>
                  <a:schemeClr val="tx1"/>
                </a:solidFill>
              </a:rPr>
              <a:t>a whole day's rows in one grid.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301752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326440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3017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Spreadsheet import:  </a:t>
            </a:r>
            <a:r>
              <a:rPr lang="en-US" sz="1400" dirty="0">
                <a:solidFill>
                  <a:schemeClr val="tx1"/>
                </a:solidFill>
              </a:rPr>
              <a:t>upload sales, review, then commit.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388620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413308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1772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Daily report:  </a:t>
            </a:r>
            <a:r>
              <a:rPr lang="en-US" sz="1400" dirty="0">
                <a:solidFill>
                  <a:schemeClr val="tx1"/>
                </a:solidFill>
              </a:rPr>
              <a:t>a clean snapshot of any day, as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Ledgers for every relationship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Running-balance ledgers keep every customer, vendor, bank account and partner always current.</a:t>
            </a:r>
            <a:endParaRPr lang="en-US" sz="1600" dirty="0"/>
          </a:p>
        </p:txBody>
      </p:sp>
      <p:sp>
        <p:nvSpPr>
          <p:cNvPr id="4" name="Ledgers for every relationship badge"/>
          <p:cNvSpPr/>
          <p:nvPr/>
        </p:nvSpPr>
        <p:spPr>
          <a:xfrm>
            <a:off x="1273127" y="3108960"/>
            <a:ext cx="1005840" cy="10058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5" name="Image 0" descr="Ledgers for every relationsh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587" y="336042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23360" y="128016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152704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280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Customer ledgers:  </a:t>
            </a:r>
            <a:r>
              <a:rPr lang="en-US" sz="1400" dirty="0">
                <a:solidFill>
                  <a:schemeClr val="tx1"/>
                </a:solidFill>
              </a:rPr>
              <a:t>what each customer bought and paid.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23360" y="214884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239572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Vendor ledgers:  </a:t>
            </a:r>
            <a:r>
              <a:rPr lang="en-US" sz="1400" dirty="0">
                <a:solidFill>
                  <a:schemeClr val="tx1"/>
                </a:solidFill>
              </a:rPr>
              <a:t>balance owed to every supplier.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301752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326440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3017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Bank accounts:  </a:t>
            </a:r>
            <a:r>
              <a:rPr lang="en-US" sz="1400" dirty="0">
                <a:solidFill>
                  <a:schemeClr val="tx1"/>
                </a:solidFill>
              </a:rPr>
              <a:t>balances and transfers between accounts.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388620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413308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1772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Partner ledgers:  </a:t>
            </a:r>
            <a:r>
              <a:rPr lang="en-US" sz="1400" dirty="0">
                <a:solidFill>
                  <a:schemeClr val="tx1"/>
                </a:solidFill>
              </a:rPr>
              <a:t>capital and withdrawals by partner.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Receivables, payables &amp; cash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Know what's owed to you, what you owe and what cash you actually have, live.</a:t>
            </a:r>
            <a:endParaRPr lang="en-US" sz="1600" dirty="0"/>
          </a:p>
        </p:txBody>
      </p:sp>
      <p:sp>
        <p:nvSpPr>
          <p:cNvPr id="4" name="Receivables, payables &amp; cash badge"/>
          <p:cNvSpPr/>
          <p:nvPr/>
        </p:nvSpPr>
        <p:spPr>
          <a:xfrm>
            <a:off x="1104316" y="3094892"/>
            <a:ext cx="1005840" cy="10058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5" name="Image 0" descr="Receivables, payables &amp; cas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76" y="3346352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23360" y="128016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152704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280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Receivables:  </a:t>
            </a:r>
            <a:r>
              <a:rPr lang="en-US" sz="1400" dirty="0">
                <a:solidFill>
                  <a:schemeClr val="tx1"/>
                </a:solidFill>
              </a:rPr>
              <a:t>record payments against customer dues.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23360" y="214884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239572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Payables:  </a:t>
            </a:r>
            <a:r>
              <a:rPr lang="en-US" sz="1400" dirty="0">
                <a:solidFill>
                  <a:schemeClr val="tx1"/>
                </a:solidFill>
              </a:rPr>
              <a:t>track vendor bills and settle them.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301752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326440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3017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Aging report:  </a:t>
            </a:r>
            <a:r>
              <a:rPr lang="en-US" sz="1400" dirty="0">
                <a:solidFill>
                  <a:schemeClr val="tx1"/>
                </a:solidFill>
              </a:rPr>
              <a:t>dues bucketed by days overdue.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388620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413308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1772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Cash position:  </a:t>
            </a:r>
            <a:r>
              <a:rPr lang="en-US" sz="1400" dirty="0">
                <a:solidFill>
                  <a:schemeClr val="tx1"/>
                </a:solidFill>
              </a:rPr>
              <a:t>cash in hand and upcoming obligations.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purchase intelligence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Auto-generated insights show what's gaining momentum and what's losing it.</a:t>
            </a:r>
            <a:endParaRPr lang="en-US" sz="1600" dirty="0"/>
          </a:p>
        </p:txBody>
      </p:sp>
      <p:sp>
        <p:nvSpPr>
          <p:cNvPr id="4" name="Sales &amp; purchase intelligence badge"/>
          <p:cNvSpPr/>
          <p:nvPr/>
        </p:nvSpPr>
        <p:spPr>
          <a:xfrm>
            <a:off x="1195758" y="3108960"/>
            <a:ext cx="1005840" cy="10058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5" name="Image 0" descr="Sales &amp; purchase intellig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218" y="336042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23360" y="128016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152704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280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Revenue intelligence:  </a:t>
            </a:r>
            <a:r>
              <a:rPr lang="en-US" sz="1400" dirty="0">
                <a:solidFill>
                  <a:schemeClr val="tx1"/>
                </a:solidFill>
              </a:rPr>
              <a:t>which channel, product or department drives income.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23360" y="214884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239572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 intelligence:  </a:t>
            </a:r>
            <a:r>
              <a:rPr lang="en-US" sz="1400" dirty="0">
                <a:solidFill>
                  <a:schemeClr val="tx1"/>
                </a:solidFill>
              </a:rPr>
              <a:t>every cost category compared month to month.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301752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326440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3017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Patterns:  </a:t>
            </a:r>
            <a:r>
              <a:rPr lang="en-US" sz="1400" dirty="0">
                <a:solidFill>
                  <a:schemeClr val="tx1"/>
                </a:solidFill>
              </a:rPr>
              <a:t>best-selling days and payment-mode mix.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388620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413308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1772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Early warnings:  </a:t>
            </a:r>
            <a:r>
              <a:rPr lang="en-US" sz="1400" dirty="0">
                <a:solidFill>
                  <a:schemeClr val="tx1"/>
                </a:solidFill>
              </a:rPr>
              <a:t>catch creeping expenses sooner.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you want any time for :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Monthly summaries, category statements and full reports for any period you choose.</a:t>
            </a:r>
            <a:endParaRPr lang="en-US" sz="1600" dirty="0"/>
          </a:p>
        </p:txBody>
      </p:sp>
      <p:sp>
        <p:nvSpPr>
          <p:cNvPr id="4" name="Reports your accountant will ask for badge"/>
          <p:cNvSpPr/>
          <p:nvPr/>
        </p:nvSpPr>
        <p:spPr>
          <a:xfrm>
            <a:off x="1181690" y="3108960"/>
            <a:ext cx="1005840" cy="10058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5" name="Image 0" descr="Reports your accountant will ask f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082" y="336042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23360" y="128016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152704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280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Monthly &amp; yearly summaries:  </a:t>
            </a:r>
            <a:r>
              <a:rPr lang="en-US" sz="1400" dirty="0">
                <a:solidFill>
                  <a:schemeClr val="tx1"/>
                </a:solidFill>
              </a:rPr>
              <a:t>revenue, bills, average bill.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23360" y="214884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239572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Category statements:  </a:t>
            </a:r>
            <a:r>
              <a:rPr lang="en-US" sz="1400" dirty="0">
                <a:solidFill>
                  <a:schemeClr val="tx1"/>
                </a:solidFill>
              </a:rPr>
              <a:t>drill into any category.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301752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326440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3017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Financial statements:  </a:t>
            </a:r>
            <a:r>
              <a:rPr lang="en-US" sz="1400" dirty="0">
                <a:solidFill>
                  <a:schemeClr val="tx1"/>
                </a:solidFill>
              </a:rPr>
              <a:t>P&amp;L, Balance Sheet, Cash Flow.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388620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4133088"/>
            <a:ext cx="237744" cy="237744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1772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Export anywhere:  </a:t>
            </a:r>
            <a:r>
              <a:rPr lang="en-US" sz="1400" dirty="0">
                <a:solidFill>
                  <a:schemeClr val="tx1"/>
                </a:solidFill>
              </a:rPr>
              <a:t>PDF, Excel and CSV.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action: six months at a glance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2801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371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₹31.8L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September revenue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0" y="24231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636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net margin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35661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bills in the month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663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Demo data: a multi-department hospital using the app for daily revenue and costs.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dashboard and revenue drivers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Screenshot analytics" descr="Product screenshot: analytics 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3931920" cy="2777413"/>
          </a:xfrm>
          <a:prstGeom prst="rect">
            <a:avLst/>
          </a:prstGeom>
        </p:spPr>
      </p:pic>
      <p:pic>
        <p:nvPicPr>
          <p:cNvPr id="27" name="Screenshot revenue" descr="Product screenshot: revenue 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3931920" cy="2777413"/>
          </a:xfrm>
          <a:prstGeom prst="rect">
            <a:avLst/>
          </a:prstGeom>
        </p:spPr>
      </p:pic>
      <p:sp>
        <p:nvSpPr>
          <p:cNvPr id="28" name="Screenshot caption"/>
          <p:cNvSpPr txBox="1"/>
          <p:nvPr/>
        </p:nvSpPr>
        <p:spPr>
          <a:xfrm>
            <a:off x="548640" y="4434840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chemeClr val="accent3"/>
                </a:solidFill>
              </a:rPr>
              <a:t>Real numbers from a live account: a multi-department hospital using Prism Pulse every 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goes, month by month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6" name="Screenshot cost" descr="Product screenshot: cost 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3931920" cy="2685052"/>
          </a:xfrm>
          <a:prstGeom prst="rect">
            <a:avLst/>
          </a:prstGeom>
        </p:spPr>
      </p:pic>
      <p:pic>
        <p:nvPicPr>
          <p:cNvPr id="27" name="Screenshot monthly" descr="Product screenshot: monthly 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3931920" cy="2652066"/>
          </a:xfrm>
          <a:prstGeom prst="rect">
            <a:avLst/>
          </a:prstGeom>
        </p:spPr>
      </p:pic>
      <p:sp>
        <p:nvSpPr>
          <p:cNvPr id="28" name="Screenshot caption"/>
          <p:cNvSpPr txBox="1"/>
          <p:nvPr/>
        </p:nvSpPr>
        <p:spPr>
          <a:xfrm>
            <a:off x="548640" y="4434840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chemeClr val="accent3"/>
                </a:solidFill>
              </a:rPr>
              <a:t>Real numbers from a live account: a multi-department hospital using Prism Pulse every 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balances and what's overdue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6" name="Screenshot vendors" descr="Product screenshot: vendors 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3931920" cy="2685052"/>
          </a:xfrm>
          <a:prstGeom prst="rect">
            <a:avLst/>
          </a:prstGeom>
        </p:spPr>
      </p:pic>
      <p:pic>
        <p:nvPicPr>
          <p:cNvPr id="27" name="Screenshot aging" descr="Product screenshot: aging 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3931920" cy="2652066"/>
          </a:xfrm>
          <a:prstGeom prst="rect">
            <a:avLst/>
          </a:prstGeom>
        </p:spPr>
      </p:pic>
      <p:sp>
        <p:nvSpPr>
          <p:cNvPr id="28" name="Screenshot caption"/>
          <p:cNvSpPr txBox="1"/>
          <p:nvPr/>
        </p:nvSpPr>
        <p:spPr>
          <a:xfrm>
            <a:off x="548640" y="4434840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chemeClr val="accent3"/>
                </a:solidFill>
              </a:rPr>
              <a:t>Real numbers from a live account: a multi-department hospital using Prism Pulse every 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data, your choice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114E50"/>
          </a:solidFill>
          <a:ln w="12700">
            <a:solidFill>
              <a:srgbClr val="114E50"/>
            </a:solidFill>
            <a:prstDash val="solid"/>
          </a:ln>
        </p:spPr>
      </p:sp>
      <p:sp>
        <p:nvSpPr>
          <p:cNvPr id="4" name="Your own Google Drive badge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Your own Google Dr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Your own Google Drive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68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Data lives in a Google Sheet in your Drive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You own the file: open or export any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We never keep a copy of your financial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We touch only the one Sheet we create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114E50"/>
          </a:solidFill>
          <a:ln w="12700">
            <a:solidFill>
              <a:srgbClr val="114E50"/>
            </a:solidFill>
            <a:prstDash val="solid"/>
          </a:ln>
        </p:spPr>
      </p:sp>
      <p:sp>
        <p:nvSpPr>
          <p:cNvPr id="9" name="Prism Pulse managed database badge"/>
          <p:cNvSpPr/>
          <p:nvPr/>
        </p:nvSpPr>
        <p:spPr>
          <a:xfrm>
            <a:off x="4937760" y="16002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ism Pulse managed datab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Prism Pulse managed database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468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 Google account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Secure and managed for you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Dedicated, isolated data store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Switch later with a storage change request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design, simple for a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Isolated workspace badge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5" name="Image 0" descr="Isolated worksp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Isolated workspace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9385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Every organization gets its own data store, never shared or mixed.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9" name="Team access badge"/>
          <p:cNvSpPr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0" name="Image 1" descr="Team acc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973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Team access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9385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Owner plus manager logins, sized to your plan.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Secure sign-in badge"/>
          <p:cNvSpPr/>
          <p:nvPr/>
        </p:nvSpPr>
        <p:spPr>
          <a:xfrm>
            <a:off x="777240" y="329184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5" name="Image 2" descr="Secure sign-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4518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Secure sign-in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4930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Protected accounts and encrypted connections.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9" name="Always portable badge"/>
          <p:cNvSpPr/>
          <p:nvPr/>
        </p:nvSpPr>
        <p:spPr>
          <a:xfrm>
            <a:off x="4892040" y="329184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0" name="Image 3" descr="Always portab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Always portable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4930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Export your reports and data whenever you need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plans, transparent billing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Start free badge"/>
          <p:cNvSpPr/>
          <p:nvPr/>
        </p:nvSpPr>
        <p:spPr>
          <a:xfrm>
            <a:off x="1188720" y="169164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Start f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Start free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718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Try it with your own data. No credit card required.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060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9" name="Pick your plan badge"/>
          <p:cNvSpPr/>
          <p:nvPr/>
        </p:nvSpPr>
        <p:spPr>
          <a:xfrm>
            <a:off x="3246120" y="1691640"/>
            <a:ext cx="594360" cy="59436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0" name="Image 1" descr="Pick your p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710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Pick your plan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9718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Plans by storage choice and team size, monthly or yearly.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6634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Pay your way badge"/>
          <p:cNvSpPr/>
          <p:nvPr/>
        </p:nvSpPr>
        <p:spPr>
          <a:xfrm>
            <a:off x="5303520" y="1691640"/>
            <a:ext cx="594360" cy="59436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5" name="Image 2" descr="Pay your w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110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Pay your way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9718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Card, UPI and netbanking via Razorpay, with optional autopay.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7208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9" name="Clear invoices badge"/>
          <p:cNvSpPr/>
          <p:nvPr/>
        </p:nvSpPr>
        <p:spPr>
          <a:xfrm>
            <a:off x="7360920" y="1691640"/>
            <a:ext cx="594360" cy="59436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0" name="Image 3" descr="Clear invoic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510" y="184023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Clear invoices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29718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Invoices, payment history and coupons on one billing page.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what your numbers have been trying to tell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8FD3C8"/>
                </a:solidFill>
              </a:rPr>
              <a:t>Create your organization, free. Your own data, set up in minutes.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Start free today</a:t>
            </a:r>
            <a:endParaRPr lang="en-US" sz="1600" dirty="0"/>
          </a:p>
        </p:txBody>
      </p:sp>
      <p:sp>
        <p:nvSpPr>
          <p:cNvPr id="6" name="pulse ring 0"/>
          <p:cNvSpPr/>
          <p:nvPr/>
        </p:nvSpPr>
        <p:spPr>
          <a:xfrm>
            <a:off x="6858000" y="1097280"/>
            <a:ext cx="2011680" cy="20116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7" name="pulse ring 1"/>
          <p:cNvSpPr/>
          <p:nvPr/>
        </p:nvSpPr>
        <p:spPr>
          <a:xfrm>
            <a:off x="7315200" y="1554480"/>
            <a:ext cx="1097280" cy="10972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8" name="Image 0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8308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26" name="Contact title"/>
          <p:cNvSpPr txBox="1"/>
          <p:nvPr/>
        </p:nvSpPr>
        <p:spPr>
          <a:xfrm>
            <a:off x="640080" y="91440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chemeClr val="bg1"/>
                </a:solidFill>
                <a:latin typeface="+mj-lt"/>
              </a:rPr>
              <a:t>Let's talk</a:t>
            </a:r>
          </a:p>
        </p:txBody>
      </p:sp>
      <p:sp>
        <p:nvSpPr>
          <p:cNvPr id="27" name="Contact lead"/>
          <p:cNvSpPr txBox="1"/>
          <p:nvPr/>
        </p:nvSpPr>
        <p:spPr>
          <a:xfrm>
            <a:off x="640080" y="17830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chemeClr val="accent6"/>
                </a:solidFill>
              </a:rPr>
              <a:t>Questions before you sign up? Reach out directly.</a:t>
            </a:r>
          </a:p>
        </p:txBody>
      </p:sp>
      <p:sp>
        <p:nvSpPr>
          <p:cNvPr id="28" name="Email badge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Email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" y="2825496"/>
            <a:ext cx="292608" cy="292608"/>
          </a:xfrm>
          <a:prstGeom prst="rect">
            <a:avLst/>
          </a:prstGeom>
        </p:spPr>
      </p:pic>
      <p:sp>
        <p:nvSpPr>
          <p:cNvPr id="30" name="Email label"/>
          <p:cNvSpPr txBox="1"/>
          <p:nvPr/>
        </p:nvSpPr>
        <p:spPr>
          <a:xfrm>
            <a:off x="1508760" y="267004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chemeClr val="accent6"/>
                </a:solidFill>
              </a:rPr>
              <a:t>EMAIL</a:t>
            </a:r>
          </a:p>
        </p:txBody>
      </p:sp>
      <p:sp>
        <p:nvSpPr>
          <p:cNvPr id="31" name="Email value"/>
          <p:cNvSpPr txBox="1"/>
          <p:nvPr/>
        </p:nvSpPr>
        <p:spPr>
          <a:xfrm>
            <a:off x="1508760" y="2907791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</a:rPr>
              <a:t>prismpulse.intelligence@gmail.com</a:t>
            </a:r>
          </a:p>
        </p:txBody>
      </p:sp>
      <p:sp>
        <p:nvSpPr>
          <p:cNvPr id="32" name="Phone badge"/>
          <p:cNvSpPr/>
          <p:nvPr/>
        </p:nvSpPr>
        <p:spPr>
          <a:xfrm>
            <a:off x="640080" y="3520439"/>
            <a:ext cx="640080" cy="6400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Pho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5" y="3694176"/>
            <a:ext cx="292608" cy="292608"/>
          </a:xfrm>
          <a:prstGeom prst="rect">
            <a:avLst/>
          </a:prstGeom>
        </p:spPr>
      </p:pic>
      <p:sp>
        <p:nvSpPr>
          <p:cNvPr id="34" name="Phone label"/>
          <p:cNvSpPr txBox="1"/>
          <p:nvPr/>
        </p:nvSpPr>
        <p:spPr>
          <a:xfrm>
            <a:off x="1508760" y="3538727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chemeClr val="accent6"/>
                </a:solidFill>
              </a:rPr>
              <a:t>PHONE</a:t>
            </a:r>
          </a:p>
        </p:txBody>
      </p:sp>
      <p:sp>
        <p:nvSpPr>
          <p:cNvPr id="35" name="Phone value"/>
          <p:cNvSpPr txBox="1"/>
          <p:nvPr/>
        </p:nvSpPr>
        <p:spPr>
          <a:xfrm>
            <a:off x="1508760" y="3776472"/>
            <a:ext cx="4754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chemeClr val="bg1"/>
                </a:solidFill>
              </a:rPr>
              <a:t>97</a:t>
            </a:r>
            <a:r>
              <a:rPr lang="en-IN" sz="2000" b="1" i="0" dirty="0">
                <a:solidFill>
                  <a:schemeClr val="bg1"/>
                </a:solidFill>
              </a:rPr>
              <a:t> </a:t>
            </a:r>
            <a:r>
              <a:rPr sz="2000" b="1" i="0" dirty="0">
                <a:solidFill>
                  <a:schemeClr val="bg1"/>
                </a:solidFill>
              </a:rPr>
              <a:t>00</a:t>
            </a:r>
            <a:r>
              <a:rPr lang="en-IN" sz="2000" b="1" i="0" dirty="0">
                <a:solidFill>
                  <a:schemeClr val="bg1"/>
                </a:solidFill>
              </a:rPr>
              <a:t> </a:t>
            </a:r>
            <a:r>
              <a:rPr sz="2000" b="1" i="0" dirty="0">
                <a:solidFill>
                  <a:schemeClr val="bg1"/>
                </a:solidFill>
              </a:rPr>
              <a:t>36</a:t>
            </a:r>
            <a:r>
              <a:rPr lang="en-IN" sz="2000" b="1" i="0" dirty="0">
                <a:solidFill>
                  <a:schemeClr val="bg1"/>
                </a:solidFill>
              </a:rPr>
              <a:t> </a:t>
            </a:r>
            <a:r>
              <a:rPr sz="2000" b="1" i="0" dirty="0">
                <a:solidFill>
                  <a:schemeClr val="bg1"/>
                </a:solidFill>
              </a:rPr>
              <a:t>48</a:t>
            </a:r>
            <a:r>
              <a:rPr lang="en-IN" sz="2000" b="1" i="0" dirty="0">
                <a:solidFill>
                  <a:schemeClr val="bg1"/>
                </a:solidFill>
              </a:rPr>
              <a:t> </a:t>
            </a:r>
            <a:r>
              <a:rPr sz="2000" b="1" i="0" dirty="0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36" name="pulse ring 0"/>
          <p:cNvSpPr/>
          <p:nvPr/>
        </p:nvSpPr>
        <p:spPr>
          <a:xfrm>
            <a:off x="6858000" y="1097280"/>
            <a:ext cx="2011680" cy="201168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ulse ring 1"/>
          <p:cNvSpPr/>
          <p:nvPr/>
        </p:nvSpPr>
        <p:spPr>
          <a:xfrm>
            <a:off x="7315200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he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828800"/>
            <a:ext cx="548640" cy="548640"/>
          </a:xfrm>
          <a:prstGeom prst="rect">
            <a:avLst/>
          </a:prstGeom>
        </p:spPr>
      </p:pic>
      <p:sp>
        <p:nvSpPr>
          <p:cNvPr id="39" name="Contact footnote"/>
          <p:cNvSpPr txBox="1"/>
          <p:nvPr/>
        </p:nvSpPr>
        <p:spPr>
          <a:xfrm>
            <a:off x="6400800" y="32918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chemeClr val="accent6"/>
                </a:solidFill>
              </a:rPr>
              <a:t>Free to start. No credit card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sm Pulse">
  <a:themeElements>
    <a:clrScheme name="Prism Pulse">
      <a:dk1>
        <a:srgbClr val="13242B"/>
      </a:dk1>
      <a:lt1>
        <a:srgbClr val="FFFFFF"/>
      </a:lt1>
      <a:dk2>
        <a:srgbClr val="0B3B3C"/>
      </a:dk2>
      <a:lt2>
        <a:srgbClr val="EAF4F2"/>
      </a:lt2>
      <a:accent1>
        <a:srgbClr val="1FA89A"/>
      </a:accent1>
      <a:accent2>
        <a:srgbClr val="F2A541"/>
      </a:accent2>
      <a:accent3>
        <a:srgbClr val="5E7C82"/>
      </a:accent3>
      <a:accent4>
        <a:srgbClr val="2F6F73"/>
      </a:accent4>
      <a:accent5>
        <a:srgbClr val="D9644A"/>
      </a:accent5>
      <a:accent6>
        <a:srgbClr val="8FD3C8"/>
      </a:accent6>
      <a:hlink>
        <a:srgbClr val="1FA89A"/>
      </a:hlink>
      <a:folHlink>
        <a:srgbClr val="5E7C82"/>
      </a:folHlink>
    </a:clrScheme>
    <a:fontScheme name="Prism Pul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872</Words>
  <Application>Microsoft Office PowerPoint</Application>
  <PresentationFormat>On-screen Show (16:9)</PresentationFormat>
  <Paragraphs>146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Prism Pulse</vt:lpstr>
      <vt:lpstr>PowerPoint Presentation</vt:lpstr>
      <vt:lpstr>Most owners find out too late</vt:lpstr>
      <vt:lpstr>Three steps, a couple of minutes a day</vt:lpstr>
      <vt:lpstr>Made for any business with daily Sales / Revenue</vt:lpstr>
      <vt:lpstr>Fast daily entry &amp; imports</vt:lpstr>
      <vt:lpstr>Ledgers for every relationship</vt:lpstr>
      <vt:lpstr>Receivables, payables &amp; cash</vt:lpstr>
      <vt:lpstr>Sales &amp; purchase intelligence</vt:lpstr>
      <vt:lpstr>Reports you want any time for :</vt:lpstr>
      <vt:lpstr>See it in action: six months at a glance</vt:lpstr>
      <vt:lpstr>Your dashboard and revenue drivers</vt:lpstr>
      <vt:lpstr>Where the money goes, month by month</vt:lpstr>
      <vt:lpstr>Vendor balances and what's overdue</vt:lpstr>
      <vt:lpstr>PowerPoint Presentation</vt:lpstr>
      <vt:lpstr>Private by design, simple for a team</vt:lpstr>
      <vt:lpstr>Simple plans, transparent billing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Pulse Intelligence &amp; Analytics</dc:title>
  <dc:subject>PptxGenJS Presentation</dc:subject>
  <dc:creator>PptxGenJS</dc:creator>
  <cp:lastModifiedBy>sreekar babu bejjanki</cp:lastModifiedBy>
  <cp:revision>3</cp:revision>
  <dcterms:created xsi:type="dcterms:W3CDTF">2026-10-07T06:11:44Z</dcterms:created>
  <dcterms:modified xsi:type="dcterms:W3CDTF">2026-10-07T06:49:43Z</dcterms:modified>
</cp:coreProperties>
</file>