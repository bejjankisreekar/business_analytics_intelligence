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c7c2a5a-20e0-e1e2-b3b7-05ef3fb43358}">
          <p14:sldIdLst>
            <p14:sldId id="256"/>
          </p14:sldIdLst>
        </p14:section>
        <p14:section name="The problem" id="{bb8a7251-6e58-2861-651c-ef7277d413fc}">
          <p14:sldIdLst>
            <p14:sldId id="257"/>
            <p14:sldId id="258"/>
          </p14:sldIdLst>
        </p14:section>
        <p14:section name="The solution" id="{07044a80-1e00-b638-36d8-8fc7323288ab}">
          <p14:sldIdLst>
            <p14:sldId id="259"/>
            <p14:sldId id="260"/>
            <p14:sldId id="261"/>
          </p14:sldIdLst>
        </p14:section>
        <p14:section name="Trust" id="{ff6b9e38-0031-6a8d-7e8f-7ca492f37eff}">
          <p14:sldIdLst>
            <p14:sldId id="262"/>
            <p14:sldId id="266"/>
          </p14:sldIdLst>
        </p14:section>
        <p14:section name="Comparison" id="{d886b927-8e5a-4c5b-5576-6aa56cd38a04}">
          <p14:sldIdLst>
            <p14:sldId id="263"/>
          </p14:sldIdLst>
        </p14:section>
        <p14:section name="Who it is for" id="{2c83dc51-6fc5-864b-9286-60c82a06f6eb}">
          <p14:sldIdLst>
            <p14:sldId id="264"/>
          </p14:sldIdLst>
        </p14:section>
        <p14:section name="Pricing" id="{b53fc5ac-e362-5bba-bb8d-68d28e6bd95b}">
          <p14:sldIdLst>
            <p14:sldId id="265"/>
          </p14:sldIdLst>
        </p14:section>
        <p14:section name="Next steps" id="{9f89d816-dcdd-42c4-6f50-bad6ec67998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outcome: daily clarity on profit and cash, without needing an accounting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how do you know this month's profit today? Let them answer before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are indicative. Confirm the final figures, GST treatment and the storage option for each plan before the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agreeing the first concrete step, the demo date and who will connect the Google Drive.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2A541"/>
                </a:solidFill>
              </a:rPr>
              <a:t>FINDAY INTELLIGENCE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exactly how your business is doing, every day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8FD3C8"/>
                </a:solidFill>
              </a:rPr>
              <a:t>The problems growing businesses face, and how Finday solves them.</a:t>
            </a:r>
            <a:endParaRPr lang="en-US" sz="1600" dirty="0"/>
          </a:p>
        </p:txBody>
      </p:sp>
      <p:sp>
        <p:nvSpPr>
          <p:cNvPr id="5" name="pulse ring 0"/>
          <p:cNvSpPr/>
          <p:nvPr/>
        </p:nvSpPr>
        <p:spPr>
          <a:xfrm>
            <a:off x="6766560" y="822960"/>
            <a:ext cx="2926080" cy="2926080"/>
          </a:xfrm>
          <a:prstGeom prst="ellipse">
            <a:avLst/>
          </a:prstGeom>
          <a:solidFill>
            <a:srgbClr val="2F6F73"/>
          </a:solidFill>
          <a:ln w="12700">
            <a:solidFill>
              <a:srgbClr val="2F6F73"/>
            </a:solidFill>
            <a:prstDash val="solid"/>
          </a:ln>
        </p:spPr>
      </p:sp>
      <p:sp>
        <p:nvSpPr>
          <p:cNvPr id="6" name="pulse ring 1"/>
          <p:cNvSpPr/>
          <p:nvPr/>
        </p:nvSpPr>
        <p:spPr>
          <a:xfrm>
            <a:off x="7223760" y="1280160"/>
            <a:ext cx="2011680" cy="20116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7" name="pulse ring 2"/>
          <p:cNvSpPr/>
          <p:nvPr/>
        </p:nvSpPr>
        <p:spPr>
          <a:xfrm>
            <a:off x="7680960" y="1737360"/>
            <a:ext cx="1097280" cy="10972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8" name="Image 0" descr="Char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01168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 run blind between month-ends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Most owners see their real numbers only when the accountant closes the month, too late to act on them.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Finday gives you the picture while there is still time to 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06240" y="1371600"/>
            <a:ext cx="4389120" cy="896112"/>
          </a:xfrm>
          <a:prstGeom prst="roundRect">
            <a:avLst>
              <a:gd name="adj" fmla="val 12245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6" name="Records in many places badge"/>
          <p:cNvSpPr/>
          <p:nvPr/>
        </p:nvSpPr>
        <p:spPr>
          <a:xfrm>
            <a:off x="4389120" y="1545336"/>
            <a:ext cx="548640" cy="54864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7" name="Image 0" descr="Records in many pla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824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12064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Records in many places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120640" y="18013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Sales in a notebook, purchases in bills, expenses in chats.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06240" y="2423160"/>
            <a:ext cx="4389120" cy="896112"/>
          </a:xfrm>
          <a:prstGeom prst="roundRect">
            <a:avLst>
              <a:gd name="adj" fmla="val 12245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1" name="Numbers that arrive late badge"/>
          <p:cNvSpPr/>
          <p:nvPr/>
        </p:nvSpPr>
        <p:spPr>
          <a:xfrm>
            <a:off x="4389120" y="2596896"/>
            <a:ext cx="548640" cy="54864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12" name="Image 1" descr="Numbers that arrive 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73405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20640" y="2532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Numbers that arrive late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120640" y="28529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Profit is known only after the month is closed.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206240" y="3474720"/>
            <a:ext cx="4389120" cy="896112"/>
          </a:xfrm>
          <a:prstGeom prst="roundRect">
            <a:avLst>
              <a:gd name="adj" fmla="val 12245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6" name="Dues kept in memory badge"/>
          <p:cNvSpPr/>
          <p:nvPr/>
        </p:nvSpPr>
        <p:spPr>
          <a:xfrm>
            <a:off x="4389120" y="3648456"/>
            <a:ext cx="548640" cy="54864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17" name="Image 2" descr="Dues kept in mem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78561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20640" y="3584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Dues kept in memory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120640" y="39044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Who owes you, and whom you owe, is not written down anywhere.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issues hold growing businesses back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Scattered records badg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5" name="Image 0" descr="Scattered reco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Scattered records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Entries spread across notebooks, bills and chats.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9" name="Late numbers badge"/>
          <p:cNvSpPr/>
          <p:nvPr/>
        </p:nvSpPr>
        <p:spPr>
          <a:xfrm>
            <a:off x="3520440" y="1600200"/>
            <a:ext cx="548640" cy="54864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0" name="Image 1" descr="Late numb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Late numbers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Profit is known only after month-end closing.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3716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4" name="Hidden margins badge"/>
          <p:cNvSpPr/>
          <p:nvPr/>
        </p:nvSpPr>
        <p:spPr>
          <a:xfrm>
            <a:off x="6263640" y="1600200"/>
            <a:ext cx="548640" cy="54864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5" name="Image 2" descr="Hidden margi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240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Hidden margins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487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Cost creep and price leaks show up weeks late.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29718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9" name="Untracked dues badge"/>
          <p:cNvSpPr/>
          <p:nvPr/>
        </p:nvSpPr>
        <p:spPr>
          <a:xfrm>
            <a:off x="777240" y="3200400"/>
            <a:ext cx="548640" cy="54864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0" name="Image 3" descr="Untracked du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375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Untracked dues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087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Receivables and payables kept in diaries or memory.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3291840" y="29718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4" name="Manual commissions badge"/>
          <p:cNvSpPr/>
          <p:nvPr/>
        </p:nvSpPr>
        <p:spPr>
          <a:xfrm>
            <a:off x="3520440" y="3200400"/>
            <a:ext cx="548640" cy="54864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5" name="Image 4" descr="Manual commission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33756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52044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Manual commissions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520440" y="4087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Referral and partner payouts tracked on paper.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035040" y="297180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9" name="All-or-nothing access badge"/>
          <p:cNvSpPr/>
          <p:nvPr/>
        </p:nvSpPr>
        <p:spPr>
          <a:xfrm>
            <a:off x="6263640" y="3200400"/>
            <a:ext cx="548640" cy="54864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30" name="Image 5" descr="All-or-nothing acce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33756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6364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All-or-nothing access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63640" y="4087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Shared logins give staff far more than they need.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Finday changes, issue by issue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Scattered records</a:t>
            </a:r>
            <a:endParaRPr lang="en-US" sz="1400" dirty="0"/>
          </a:p>
        </p:txBody>
      </p:sp>
      <p:sp>
        <p:nvSpPr>
          <p:cNvPr id="5" name="arrow 1 badge"/>
          <p:cNvSpPr/>
          <p:nvPr/>
        </p:nvSpPr>
        <p:spPr>
          <a:xfrm>
            <a:off x="3520440" y="1344168"/>
            <a:ext cx="347472" cy="347472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6" name="Image 0" descr="arrow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7308" y="1431036"/>
            <a:ext cx="173736" cy="1737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023360" y="1280160"/>
            <a:ext cx="4572000" cy="475488"/>
          </a:xfrm>
          <a:prstGeom prst="roundRect">
            <a:avLst>
              <a:gd name="adj" fmla="val 23077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06240" y="128016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One daily entry screen for sales, purchases and expenses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856232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8562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Late numbers</a:t>
            </a:r>
            <a:endParaRPr lang="en-US" sz="1400" dirty="0"/>
          </a:p>
        </p:txBody>
      </p:sp>
      <p:sp>
        <p:nvSpPr>
          <p:cNvPr id="11" name="arrow 2 badge"/>
          <p:cNvSpPr/>
          <p:nvPr/>
        </p:nvSpPr>
        <p:spPr>
          <a:xfrm>
            <a:off x="3520440" y="1920240"/>
            <a:ext cx="347472" cy="347472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2" name="Image 1" descr="arrow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308" y="2007108"/>
            <a:ext cx="173736" cy="17373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23360" y="1856232"/>
            <a:ext cx="4572000" cy="475488"/>
          </a:xfrm>
          <a:prstGeom prst="roundRect">
            <a:avLst>
              <a:gd name="adj" fmla="val 23077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206240" y="1856232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Dashboard and P&amp;L update from the same-day entries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2432304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31520" y="243230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Hidden margins</a:t>
            </a:r>
            <a:endParaRPr lang="en-US" sz="1400" dirty="0"/>
          </a:p>
        </p:txBody>
      </p:sp>
      <p:sp>
        <p:nvSpPr>
          <p:cNvPr id="17" name="arrow 3 badge"/>
          <p:cNvSpPr/>
          <p:nvPr/>
        </p:nvSpPr>
        <p:spPr>
          <a:xfrm>
            <a:off x="3520440" y="2496312"/>
            <a:ext cx="347472" cy="347472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8" name="Image 2" descr="arrow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08" y="2583180"/>
            <a:ext cx="173736" cy="17373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023360" y="2432304"/>
            <a:ext cx="4572000" cy="475488"/>
          </a:xfrm>
          <a:prstGeom prst="roundRect">
            <a:avLst>
              <a:gd name="adj" fmla="val 23077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206240" y="2432304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Margin and cost trends by category, month and year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3008376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300837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Untracked dues</a:t>
            </a:r>
            <a:endParaRPr lang="en-US" sz="1400" dirty="0"/>
          </a:p>
        </p:txBody>
      </p:sp>
      <p:sp>
        <p:nvSpPr>
          <p:cNvPr id="23" name="arrow 4 badge"/>
          <p:cNvSpPr/>
          <p:nvPr/>
        </p:nvSpPr>
        <p:spPr>
          <a:xfrm>
            <a:off x="3520440" y="3072384"/>
            <a:ext cx="347472" cy="347472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4" name="Image 3" descr="arrow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308" y="3159252"/>
            <a:ext cx="173736" cy="17373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023360" y="3008376"/>
            <a:ext cx="4572000" cy="475488"/>
          </a:xfrm>
          <a:prstGeom prst="roundRect">
            <a:avLst>
              <a:gd name="adj" fmla="val 23077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206240" y="3008376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Customer and vendor ledgers with receivables, payables and aging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48640" y="3584448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31520" y="35844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Manual commissions</a:t>
            </a:r>
            <a:endParaRPr lang="en-US" sz="1400" dirty="0"/>
          </a:p>
        </p:txBody>
      </p:sp>
      <p:sp>
        <p:nvSpPr>
          <p:cNvPr id="29" name="arrow 5 badge"/>
          <p:cNvSpPr/>
          <p:nvPr/>
        </p:nvSpPr>
        <p:spPr>
          <a:xfrm>
            <a:off x="3520440" y="3648456"/>
            <a:ext cx="347472" cy="347472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30" name="Image 4" descr="arrow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7308" y="3735324"/>
            <a:ext cx="173736" cy="17373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4023360" y="3584448"/>
            <a:ext cx="4572000" cy="475488"/>
          </a:xfrm>
          <a:prstGeom prst="roundRect">
            <a:avLst>
              <a:gd name="adj" fmla="val 23077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206240" y="358444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Referral commissions tracked per referrer, due and paid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548640" y="4160520"/>
            <a:ext cx="2834640" cy="475488"/>
          </a:xfrm>
          <a:prstGeom prst="roundRect">
            <a:avLst>
              <a:gd name="adj" fmla="val 23077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31520" y="41605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All-or-nothing access</a:t>
            </a:r>
            <a:endParaRPr lang="en-US" sz="1400" dirty="0"/>
          </a:p>
        </p:txBody>
      </p:sp>
      <p:sp>
        <p:nvSpPr>
          <p:cNvPr id="35" name="arrow 6 badge"/>
          <p:cNvSpPr/>
          <p:nvPr/>
        </p:nvSpPr>
        <p:spPr>
          <a:xfrm>
            <a:off x="3520440" y="4224528"/>
            <a:ext cx="347472" cy="347472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36" name="Image 5" descr="arrow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7308" y="4311396"/>
            <a:ext cx="173736" cy="173736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4023360" y="4160520"/>
            <a:ext cx="4572000" cy="475488"/>
          </a:xfrm>
          <a:prstGeom prst="roundRect">
            <a:avLst>
              <a:gd name="adj" fmla="val 23077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4206240" y="416052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Owner, admin, manager and member logins; managers limited to chosen pages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 from entry to decision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417320" y="1828800"/>
            <a:ext cx="1783080" cy="0"/>
          </a:xfrm>
          <a:prstGeom prst="line">
            <a:avLst/>
          </a:prstGeom>
          <a:noFill/>
          <a:ln w="25400">
            <a:solidFill>
              <a:srgbClr val="8FD3C8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the day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Enter sales, purchases and expenses one by one, in bulk, or by importing a spreadsheet.</a:t>
            </a:r>
            <a:endParaRPr lang="en-US" sz="1500" dirty="0"/>
          </a:p>
        </p:txBody>
      </p:sp>
      <p:sp>
        <p:nvSpPr>
          <p:cNvPr id="8" name="step 2"/>
          <p:cNvSpPr/>
          <p:nvPr/>
        </p:nvSpPr>
        <p:spPr>
          <a:xfrm>
            <a:off x="3337560" y="1463040"/>
            <a:ext cx="731520" cy="7315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206240" y="1828800"/>
            <a:ext cx="1783080" cy="0"/>
          </a:xfrm>
          <a:prstGeom prst="line">
            <a:avLst/>
          </a:prstGeom>
          <a:noFill/>
          <a:ln w="25400">
            <a:solidFill>
              <a:srgbClr val="8FD3C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33756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Finday organizes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Ledgers, dues, margins and trends update automatically from those entries.</a:t>
            </a:r>
            <a:endParaRPr lang="en-US" sz="1500" dirty="0"/>
          </a:p>
        </p:txBody>
      </p:sp>
      <p:sp>
        <p:nvSpPr>
          <p:cNvPr id="13" name="step 3"/>
          <p:cNvSpPr/>
          <p:nvPr/>
        </p:nvSpPr>
        <p:spPr>
          <a:xfrm>
            <a:off x="6126480" y="1463040"/>
            <a:ext cx="731520" cy="7315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decide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971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See what drives growth and what is draining profit, while it can still be fixed.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built around those fixes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Daily entry and import badg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5" name="Image 0" descr="Daily entry and im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Daily entry and import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011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Quick add, bulk grid, spreadsheet import and a printable daily report.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9" name="Ledgers and dues badge"/>
          <p:cNvSpPr/>
          <p:nvPr/>
        </p:nvSpPr>
        <p:spPr>
          <a:xfrm>
            <a:off x="4892040" y="1645920"/>
            <a:ext cx="640080" cy="64008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10" name="Image 1" descr="Ledgers and du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8059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Ledgers and dues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2011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Customer, vendor, bank and partner ledgers, with receivables and payables aging.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4" name="Reports for your accountant badge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15" name="Image 2" descr="Reports for your accounta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4975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Reports for your accountant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703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P&amp;L, Balance Sheet, Cash Flow and GST summary, exported as PDF, Excel or CSV.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63440" y="30632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9" name="Commissions and team access badge"/>
          <p:cNvSpPr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pic>
        <p:nvPicPr>
          <p:cNvPr id="20" name="Image 3" descr="Commissions and team acce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4975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Commissions and team access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703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Referral commissions per referrer, plus owner, manager and member logins.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data, your choice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749040" cy="3108960"/>
          </a:xfrm>
          <a:prstGeom prst="roundRect">
            <a:avLst>
              <a:gd name="adj" fmla="val 3529"/>
            </a:avLst>
          </a:prstGeom>
          <a:solidFill>
            <a:srgbClr val="114E50"/>
          </a:solidFill>
          <a:ln w="12700">
            <a:solidFill>
              <a:srgbClr val="114E50"/>
            </a:solidFill>
            <a:prstDash val="solid"/>
          </a:ln>
        </p:spPr>
      </p:sp>
      <p:sp>
        <p:nvSpPr>
          <p:cNvPr id="4" name="Your own Google Drive badge"/>
          <p:cNvSpPr/>
          <p:nvPr/>
        </p:nvSpPr>
        <p:spPr>
          <a:xfrm>
            <a:off x="914400" y="160020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Your own Google Dr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Your own Google Drive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468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Stored in a Google Sheet in your Drive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Finday does not keep a copy of 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Open, export or delete the Sheet yourself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Revoke Finday's access at any time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749040" cy="3108960"/>
          </a:xfrm>
          <a:prstGeom prst="roundRect">
            <a:avLst>
              <a:gd name="adj" fmla="val 3529"/>
            </a:avLst>
          </a:prstGeom>
          <a:solidFill>
            <a:srgbClr val="114E50"/>
          </a:solidFill>
          <a:ln w="12700">
            <a:solidFill>
              <a:srgbClr val="114E50"/>
            </a:solidFill>
            <a:prstDash val="solid"/>
          </a:ln>
        </p:spPr>
      </p:sp>
      <p:sp>
        <p:nvSpPr>
          <p:cNvPr id="9" name="Finday managed database badge"/>
          <p:cNvSpPr/>
          <p:nvPr/>
        </p:nvSpPr>
        <p:spPr>
          <a:xfrm>
            <a:off x="4937760" y="160020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Finday managed 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Finday managed database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468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No Google account needed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Managed, secure storage for you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Records kept separate for each organization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Switch storage later through an approved request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stay with spreadsheets?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1463040"/>
                <a:gridCol w="1280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need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apps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Accounting software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daily entry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profit dashboard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P&amp;L, Balance Sheet, Cash Flow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Dues and aging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commissions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included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 your own Drive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B3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Comparison based on public information from October 2026. Verify competitor details before quoting.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businesses like yours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Retail badge"/>
          <p:cNvSpPr/>
          <p:nvPr/>
        </p:nvSpPr>
        <p:spPr>
          <a:xfrm>
            <a:off x="1234440" y="164592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5" name="Image 0" descr="Ret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0170" y="17716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Retail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606040" y="14630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8" name="Restaurants badge"/>
          <p:cNvSpPr/>
          <p:nvPr/>
        </p:nvSpPr>
        <p:spPr>
          <a:xfrm>
            <a:off x="3291840" y="164592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9" name="Image 1" descr="Restaura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570" y="177165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69748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Restaurants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63440" y="14630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2" name="Hospitals and clinics badge"/>
          <p:cNvSpPr/>
          <p:nvPr/>
        </p:nvSpPr>
        <p:spPr>
          <a:xfrm>
            <a:off x="5349240" y="164592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3" name="Image 2" descr="Hospitals and clinic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970" y="17716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5488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Hospitals and clinics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720840" y="14630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6" name="Wholesale badge"/>
          <p:cNvSpPr/>
          <p:nvPr/>
        </p:nvSpPr>
        <p:spPr>
          <a:xfrm>
            <a:off x="7406640" y="164592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7" name="Image 3" descr="Wholes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370" y="177165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12280" y="22402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Wholesale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48640" y="30175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0" name="E-commerce badge"/>
          <p:cNvSpPr/>
          <p:nvPr/>
        </p:nvSpPr>
        <p:spPr>
          <a:xfrm>
            <a:off x="1234440" y="320040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1" name="Image 4" descr="E-commer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0170" y="332613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E-commerce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2606040" y="30175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4" name="Services badge"/>
          <p:cNvSpPr/>
          <p:nvPr/>
        </p:nvSpPr>
        <p:spPr>
          <a:xfrm>
            <a:off x="3291840" y="320040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5" name="Image 5" descr="Servic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7570" y="332613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269748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Services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4663440" y="30175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8" name="Manufacturing badge"/>
          <p:cNvSpPr/>
          <p:nvPr/>
        </p:nvSpPr>
        <p:spPr>
          <a:xfrm>
            <a:off x="5349240" y="320040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9" name="Image 6" descr="Manufactur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4970" y="3326130"/>
            <a:ext cx="251460" cy="2514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75488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Manufacturing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6720840" y="301752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32" name="And more badge"/>
          <p:cNvSpPr/>
          <p:nvPr/>
        </p:nvSpPr>
        <p:spPr>
          <a:xfrm>
            <a:off x="7406640" y="320040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33" name="Image 7" descr="And mor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2370" y="3326130"/>
            <a:ext cx="251460" cy="25146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812280" y="3794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And more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 that grow with your business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Professional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1,999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per month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INR 23,988 per year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 login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Finday managed database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132588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8892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Professional Drive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2,499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per month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INR 29,988 per year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 login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Your Google Drive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32588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0B3B3C"/>
          </a:solidFill>
          <a:ln w="12700">
            <a:solidFill>
              <a:srgbClr val="0B3B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Business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2,499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D3C8"/>
                </a:solidFill>
              </a:rPr>
              <a:t>per month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D3C8"/>
                </a:solidFill>
              </a:rPr>
              <a:t>INR 29,988 per year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logins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D3C8"/>
                </a:solidFill>
              </a:rPr>
              <a:t>Your Google Drive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03720" y="1325880"/>
            <a:ext cx="1965960" cy="3246120"/>
          </a:xfrm>
          <a:prstGeom prst="roundRect">
            <a:avLst>
              <a:gd name="adj" fmla="val 5581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8660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Business Drive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2,999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2468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per month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2788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INR 35,988 per year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3200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 logins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3520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Your Google Drive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Indicative prices in INR. Every plan starts with a 14-day trial. Confirm the final price and GST before signing.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trust, built 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4" name="Your own workspace badge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5" name="Image 0" descr="Your own worksp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059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Your own workspace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011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organization's data is kept separate from every other organization.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9" name="Protected sign-in badge"/>
          <p:cNvSpPr/>
          <p:nvPr/>
        </p:nvSpPr>
        <p:spPr>
          <a:xfrm>
            <a:off x="4892040" y="1645920"/>
            <a:ext cx="640080" cy="6400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0" name="Image 1" descr="Protected sign-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8059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Protected sign-in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20116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Strong password rules, plus a one-time code by email for password recovery.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0632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4" name="Limited Google access badge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15" name="Image 2" descr="Limited Google acce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4975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Limited Google access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45920" y="3703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Finday asks only for the file it creates, and tokens are stored encrypted.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63440" y="30632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EAF4F2"/>
            </a:solidFill>
            <a:prstDash val="solid"/>
          </a:ln>
        </p:spPr>
      </p:sp>
      <p:sp>
        <p:nvSpPr>
          <p:cNvPr id="19" name="Always portable badge"/>
          <p:cNvSpPr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pic>
        <p:nvPicPr>
          <p:cNvPr id="20" name="Image 3" descr="Always port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4975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Always portable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7033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Download your reports as PDF, or your data as Excel or CSV, at any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7C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your business in one place</a:t>
            </a:r>
            <a:endParaRPr lang="en-US" sz="3600" dirty="0"/>
          </a:p>
        </p:txBody>
      </p:sp>
      <p:sp>
        <p:nvSpPr>
          <p:cNvPr id="3" name="next 1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21945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Book a live demo with your own sample data</a:t>
            </a:r>
            <a:endParaRPr lang="en-US" sz="1800" dirty="0"/>
          </a:p>
        </p:txBody>
      </p:sp>
      <p:sp>
        <p:nvSpPr>
          <p:cNvPr id="6" name="next 2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9718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Start a 14-day trial and connect your Google Drive</a:t>
            </a:r>
            <a:endParaRPr lang="en-US" sz="1800" dirty="0"/>
          </a:p>
        </p:txBody>
      </p:sp>
      <p:sp>
        <p:nvSpPr>
          <p:cNvPr id="9" name="next 3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749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Enter your first week of entries together with us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D3C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day">
  <a:themeElements>
    <a:clrScheme name="Finday">
      <a:dk1>
        <a:srgbClr val="13242B"/>
      </a:dk1>
      <a:lt1>
        <a:srgbClr val="FFFFFF"/>
      </a:lt1>
      <a:dk2>
        <a:srgbClr val="0B3B3C"/>
      </a:dk2>
      <a:lt2>
        <a:srgbClr val="EAF4F2"/>
      </a:lt2>
      <a:accent1>
        <a:srgbClr val="1FA89A"/>
      </a:accent1>
      <a:accent2>
        <a:srgbClr val="F2A541"/>
      </a:accent2>
      <a:accent3>
        <a:srgbClr val="5E7C82"/>
      </a:accent3>
      <a:accent4>
        <a:srgbClr val="2F6F73"/>
      </a:accent4>
      <a:accent5>
        <a:srgbClr val="D9644A"/>
      </a:accent5>
      <a:accent6>
        <a:srgbClr val="8FD3C8"/>
      </a:accent6>
      <a:hlink>
        <a:srgbClr val="1FA89A"/>
      </a:hlink>
      <a:folHlink>
        <a:srgbClr val="5E7C82"/>
      </a:folHlink>
    </a:clrScheme>
    <a:fontScheme name="Finda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Finday Intelligence: Client Presentation</dc:title>
  <dc:subject>PptxGenJS Presentation</dc:subject>
  <dc:creator>PptxGenJS</dc:creator>
  <cp:lastModifiedBy>PptxGenJS</cp:lastModifiedBy>
  <cp:revision>1</cp:revision>
  <dcterms:created xsi:type="dcterms:W3CDTF">2026-10-12T11:42:52Z</dcterms:created>
  <dcterms:modified xsi:type="dcterms:W3CDTF">2026-10-12T11:42:52Z</dcterms:modified>
</cp:coreProperties>
</file>