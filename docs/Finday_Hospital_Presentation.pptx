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DAD5427-3B84-1931-C133-85F192249E72}">
          <p14:sldIdLst>
            <p14:sldId id="256"/>
          </p14:sldIdLst>
        </p14:section>
        <p14:section name="The problem" id="{AF5582FE-E9DD-CD55-2C5B-8BDC735D6587}">
          <p14:sldIdLst>
            <p14:sldId id="257"/>
            <p14:sldId id="258"/>
          </p14:sldIdLst>
        </p14:section>
        <p14:section name="The solution" id="{4D8789B5-251B-0768-7BAF-14E1A52B307D}">
          <p14:sldIdLst>
            <p14:sldId id="259"/>
            <p14:sldId id="260"/>
            <p14:sldId id="261"/>
          </p14:sldIdLst>
        </p14:section>
        <p14:section name="Proof" id="{F4069ABB-2D6E-70E7-9922-9535742B3B28}">
          <p14:sldIdLst>
            <p14:sldId id="262"/>
          </p14:sldIdLst>
        </p14:section>
        <p14:section name="Trust" id="{485CE46E-B9A1-3583-037E-D8497BA65D7C}">
          <p14:sldIdLst>
            <p14:sldId id="263"/>
            <p14:sldId id="264"/>
          </p14:sldIdLst>
        </p14:section>
        <p14:section name="Comparison" id="{6565DD2D-5C9F-68BA-F476-265A41E99493}">
          <p14:sldIdLst>
            <p14:sldId id="265"/>
          </p14:sldIdLst>
        </p14:section>
        <p14:section name="Pricing" id="{E6397030-9782-C8E4-9F8E-8E8DF9AF07D2}">
          <p14:sldIdLst>
            <p14:sldId id="266"/>
          </p14:sldIdLst>
        </p14:section>
        <p14:section name="Next steps" id="{5A20BED2-0B0A-9F98-EEAF-54C601B5937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B3C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0B3B3C"/>
                </a:solidFill>
                <a:latin typeface="+mn-lt"/>
              </a:rPr>
              <a:t>Monthly revenue, INR lakh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(lakh)</c:v>
                </c:pt>
              </c:strCache>
            </c:strRef>
          </c:tx>
          <c:spPr>
            <a:solidFill>
              <a:srgbClr val="1FA89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324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39.5</c:v>
                </c:pt>
                <c:pt idx="1">
                  <c:v>39.299999999999997</c:v>
                </c:pt>
                <c:pt idx="2">
                  <c:v>32.799999999999997</c:v>
                </c:pt>
                <c:pt idx="3">
                  <c:v>30.6</c:v>
                </c:pt>
                <c:pt idx="4">
                  <c:v>34.799999999999997</c:v>
                </c:pt>
                <c:pt idx="5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58-4F49-A0AB-E8E20F175E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C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E3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C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37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outcome: every department's revenue, costs and dues visible daily, without waiting for month-end.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which department's margin can you state today, without calling the accountant?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figures are illustrative. Replace with the hospital's own data during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indicative. Confirm the final figures, GST treatment and storage option for the hospital before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agreeing the first step, the demo date, and who at the hospital will connect the Google Drive and share the department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A541"/>
                </a:solidFill>
              </a:rPr>
              <a:t>FINDAY INTELLIGENCE FOR HOSPITALS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every department's profit, every day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D3C8"/>
                </a:solidFill>
              </a:rPr>
              <a:t>Daily financial clarity for hospital owners, administrators and accounts teams.</a:t>
            </a:r>
            <a:endParaRPr lang="en-US" sz="1600" dirty="0"/>
          </a:p>
        </p:txBody>
      </p:sp>
      <p:sp>
        <p:nvSpPr>
          <p:cNvPr id="5" name="pulse ring 0"/>
          <p:cNvSpPr/>
          <p:nvPr/>
        </p:nvSpPr>
        <p:spPr>
          <a:xfrm>
            <a:off x="6766560" y="822960"/>
            <a:ext cx="2926080" cy="2926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6" name="pulse ring 1"/>
          <p:cNvSpPr/>
          <p:nvPr/>
        </p:nvSpPr>
        <p:spPr>
          <a:xfrm>
            <a:off x="7223760" y="1280160"/>
            <a:ext cx="2011680" cy="20116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7" name="pulse ring 2"/>
          <p:cNvSpPr/>
          <p:nvPr/>
        </p:nvSpPr>
        <p:spPr>
          <a:xfrm>
            <a:off x="7680960" y="173736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Hospita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0116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hospital is many businesses in 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Revenue comes from OPD, IPD, pharmacy and lab, each with its own costs, dues and doctors.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Finday brings these numbers together while there is still time to 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371600"/>
            <a:ext cx="4389120" cy="896112"/>
          </a:xfrm>
          <a:prstGeom prst="roundRect">
            <a:avLst>
              <a:gd name="adj" fmla="val 1224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6" name="Departments in silos badge"/>
          <p:cNvSpPr/>
          <p:nvPr/>
        </p:nvSpPr>
        <p:spPr>
          <a:xfrm>
            <a:off x="4389120" y="1545336"/>
            <a:ext cx="548640" cy="5486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7" name="Image 0" descr="Departments in sil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824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1206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Departments in silos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department's revenue and costs are tracked separately, if at all.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06240" y="2423160"/>
            <a:ext cx="4389120" cy="896112"/>
          </a:xfrm>
          <a:prstGeom prst="roundRect">
            <a:avLst>
              <a:gd name="adj" fmla="val 1224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1" name="Doctor commissions by hand badge"/>
          <p:cNvSpPr/>
          <p:nvPr/>
        </p:nvSpPr>
        <p:spPr>
          <a:xfrm>
            <a:off x="4389120" y="2596896"/>
            <a:ext cx="548640" cy="5486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2" name="Image 1" descr="Doctor commissions by ha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7340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20640" y="2532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Doctor commissions by hand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120640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Referral and consulting payouts are kept on paper or in chats.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06240" y="3474720"/>
            <a:ext cx="4389120" cy="896112"/>
          </a:xfrm>
          <a:prstGeom prst="roundRect">
            <a:avLst>
              <a:gd name="adj" fmla="val 1224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Unclear dues badge"/>
          <p:cNvSpPr/>
          <p:nvPr/>
        </p:nvSpPr>
        <p:spPr>
          <a:xfrm>
            <a:off x="4389120" y="3648456"/>
            <a:ext cx="548640" cy="5486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7" name="Image 2" descr="Unclear du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7856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2064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Unclear dues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insurers and patients owe, and what is overdue, is hard to see.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issues slowing hospital finance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987552"/>
          </a:xfrm>
          <a:prstGeom prst="roundRect">
            <a:avLst>
              <a:gd name="adj" fmla="val 1111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Department blind spots badge"/>
          <p:cNvSpPr/>
          <p:nvPr/>
        </p:nvSpPr>
        <p:spPr>
          <a:xfrm>
            <a:off x="777240" y="154533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Department blind sp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8249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 blind spots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465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Daily revenue and cost by department is not visible.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3931920" cy="987552"/>
          </a:xfrm>
          <a:prstGeom prst="roundRect">
            <a:avLst>
              <a:gd name="adj" fmla="val 1111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Doctor commissions badge"/>
          <p:cNvSpPr/>
          <p:nvPr/>
        </p:nvSpPr>
        <p:spPr>
          <a:xfrm>
            <a:off x="4892040" y="154533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0" name="Image 1" descr="Doctor commiss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8249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Doctor commissions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465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Referral and consulting payouts are tracked by hand.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423160"/>
            <a:ext cx="3931920" cy="987552"/>
          </a:xfrm>
          <a:prstGeom prst="roundRect">
            <a:avLst>
              <a:gd name="adj" fmla="val 1111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Insurer and patient dues badge"/>
          <p:cNvSpPr/>
          <p:nvPr/>
        </p:nvSpPr>
        <p:spPr>
          <a:xfrm>
            <a:off x="777240" y="264261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5" name="Image 2" descr="Insurer and patient du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797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Insurer and patient dues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28437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Receivables are hard to see, and harder to chase.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423160"/>
            <a:ext cx="3931920" cy="987552"/>
          </a:xfrm>
          <a:prstGeom prst="roundRect">
            <a:avLst>
              <a:gd name="adj" fmla="val 1111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Supplier payables badge"/>
          <p:cNvSpPr/>
          <p:nvPr/>
        </p:nvSpPr>
        <p:spPr>
          <a:xfrm>
            <a:off x="4892040" y="264261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0" name="Image 3" descr="Supplier payab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7977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Supplier payables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28437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Medicine and consumable bills pile up unpaid.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3520440"/>
            <a:ext cx="3931920" cy="987552"/>
          </a:xfrm>
          <a:prstGeom prst="roundRect">
            <a:avLst>
              <a:gd name="adj" fmla="val 1111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4" name="Scattered bank accounts badge"/>
          <p:cNvSpPr/>
          <p:nvPr/>
        </p:nvSpPr>
        <p:spPr>
          <a:xfrm>
            <a:off x="777240" y="373989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5" name="Image 4" descr="Scattered bank account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7705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3648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Scattered bank accounts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554480" y="3941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Cash and bank balances are spread across accounts.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663440" y="3520440"/>
            <a:ext cx="3931920" cy="987552"/>
          </a:xfrm>
          <a:prstGeom prst="roundRect">
            <a:avLst>
              <a:gd name="adj" fmla="val 1111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9" name="Late month-end numbers badge"/>
          <p:cNvSpPr/>
          <p:nvPr/>
        </p:nvSpPr>
        <p:spPr>
          <a:xfrm>
            <a:off x="4892040" y="373989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0" name="Image 5" descr="Late month-end numb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877056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669280" y="3648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Late month-end numbers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669280" y="3941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Management learns the result only after closing.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Finday changes for your hospital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Department blind spots</a:t>
            </a:r>
            <a:endParaRPr lang="en-US" sz="1400" dirty="0"/>
          </a:p>
        </p:txBody>
      </p:sp>
      <p:sp>
        <p:nvSpPr>
          <p:cNvPr id="5" name="arrow 1 badge"/>
          <p:cNvSpPr/>
          <p:nvPr/>
        </p:nvSpPr>
        <p:spPr>
          <a:xfrm>
            <a:off x="3520440" y="1344168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6" name="Image 0" descr="arrow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1431036"/>
            <a:ext cx="173736" cy="173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23360" y="1280160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06240" y="1280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Daily entries by department, with trends and margins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5623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8562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Doctor commissions</a:t>
            </a:r>
            <a:endParaRPr lang="en-US" sz="1400" dirty="0"/>
          </a:p>
        </p:txBody>
      </p:sp>
      <p:sp>
        <p:nvSpPr>
          <p:cNvPr id="11" name="arrow 2 badge"/>
          <p:cNvSpPr/>
          <p:nvPr/>
        </p:nvSpPr>
        <p:spPr>
          <a:xfrm>
            <a:off x="3520440" y="1920240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2" name="Image 1" descr="arrow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2007108"/>
            <a:ext cx="173736" cy="1737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23360" y="1856232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06240" y="185623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Referral and consulting commissions per doctor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2432304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24323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Insurer and patient dues</a:t>
            </a:r>
            <a:endParaRPr lang="en-US" sz="1400" dirty="0"/>
          </a:p>
        </p:txBody>
      </p:sp>
      <p:sp>
        <p:nvSpPr>
          <p:cNvPr id="17" name="arrow 3 badge"/>
          <p:cNvSpPr/>
          <p:nvPr/>
        </p:nvSpPr>
        <p:spPr>
          <a:xfrm>
            <a:off x="3520440" y="2496312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8" name="Image 2" descr="arrow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2583180"/>
            <a:ext cx="173736" cy="1737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023360" y="2432304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206240" y="243230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Receivables with aging, recorded against each payment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008376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30083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Supplier payables</a:t>
            </a:r>
            <a:endParaRPr lang="en-US" sz="1400" dirty="0"/>
          </a:p>
        </p:txBody>
      </p:sp>
      <p:sp>
        <p:nvSpPr>
          <p:cNvPr id="23" name="arrow 4 badge"/>
          <p:cNvSpPr/>
          <p:nvPr/>
        </p:nvSpPr>
        <p:spPr>
          <a:xfrm>
            <a:off x="3520440" y="3072384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4" name="Image 3" descr="arrow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3159252"/>
            <a:ext cx="173736" cy="1737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023360" y="3008376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206240" y="300837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Vendor ledgers and payables with aging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3584448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" y="3584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Scattered bank accounts</a:t>
            </a:r>
            <a:endParaRPr lang="en-US" sz="1400" dirty="0"/>
          </a:p>
        </p:txBody>
      </p:sp>
      <p:sp>
        <p:nvSpPr>
          <p:cNvPr id="29" name="arrow 5 badge"/>
          <p:cNvSpPr/>
          <p:nvPr/>
        </p:nvSpPr>
        <p:spPr>
          <a:xfrm>
            <a:off x="3520440" y="3648456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0" name="Image 4" descr="arrow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3735324"/>
            <a:ext cx="173736" cy="17373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023360" y="3584448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206240" y="35844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Bank balances and transfers across accounts in one place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48640" y="4160520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31520" y="4160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Late month-end numbers</a:t>
            </a:r>
            <a:endParaRPr lang="en-US" sz="1400" dirty="0"/>
          </a:p>
        </p:txBody>
      </p:sp>
      <p:sp>
        <p:nvSpPr>
          <p:cNvPr id="35" name="arrow 6 badge"/>
          <p:cNvSpPr/>
          <p:nvPr/>
        </p:nvSpPr>
        <p:spPr>
          <a:xfrm>
            <a:off x="3520440" y="4224528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6" name="Image 5" descr="arrow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4311396"/>
            <a:ext cx="173736" cy="17373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023360" y="4160520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206240" y="41605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P&amp;L, Balance Sheet and Cash Flow from the same daily entries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from entry to decision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17320" y="1828800"/>
            <a:ext cx="1783080" cy="0"/>
          </a:xfrm>
          <a:prstGeom prst="line">
            <a:avLst/>
          </a:prstGeom>
          <a:noFill/>
          <a:ln w="25400">
            <a:solidFill>
              <a:srgbClr val="8FD3C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daily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Record each day's OPD, IPD, pharmacy and lab revenue, and the costs behind it.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337560" y="1463040"/>
            <a:ext cx="731520" cy="7315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1783080" cy="0"/>
          </a:xfrm>
          <a:prstGeom prst="line">
            <a:avLst/>
          </a:prstGeom>
          <a:noFill/>
          <a:ln w="25400">
            <a:solidFill>
              <a:srgbClr val="8FD3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33756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Finday organizes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Ledgers, doctor commissions, dues and margins update from those entries.</a:t>
            </a:r>
            <a:endParaRPr lang="en-US" sz="1500" dirty="0"/>
          </a:p>
        </p:txBody>
      </p:sp>
      <p:sp>
        <p:nvSpPr>
          <p:cNvPr id="13" name="step 3"/>
          <p:cNvSpPr/>
          <p:nvPr/>
        </p:nvSpPr>
        <p:spPr>
          <a:xfrm>
            <a:off x="612648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faster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See which departments lead, which costs are rising, and what is overdue.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hospital operations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Department reporting badg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Department repor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 reporting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Revenue, costs and margins by department, category and period.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Doctor commissions badg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0" name="Image 1" descr="Doctor commiss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Doctor commissions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Commission entries per doctor or referrer, with payouts due and paid.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Dues and payables badge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5" name="Image 2" descr="Dues and payab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Dues and payables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and vendor ledgers, with receivables and payables aging.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Management reports badg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20" name="Image 3" descr="Management repor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Management reports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P&amp;L, Balance Sheet, Cash Flow and GST summary, as PDF, Excel or CSV.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months of hospital revenue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2801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31.8L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September revenue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24231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net margin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35661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bills in the month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Illustrative demo data from a multi-department hospital.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choice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14E50"/>
          </a:solidFill>
          <a:ln w="12700">
            <a:solidFill>
              <a:srgbClr val="114E50"/>
            </a:solidFill>
            <a:prstDash val="solid"/>
          </a:ln>
        </p:spPr>
      </p:sp>
      <p:sp>
        <p:nvSpPr>
          <p:cNvPr id="4" name="Your own Google Drive badge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Your own Google Dr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own Google Drive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Financial records in a Google Sheet in your Drive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Finday does not keep a copy of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Open, export or delete the Sheet yourself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Revoke Finday's access at any time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14E50"/>
          </a:solidFill>
          <a:ln w="12700">
            <a:solidFill>
              <a:srgbClr val="114E50"/>
            </a:solidFill>
            <a:prstDash val="solid"/>
          </a:ln>
        </p:spPr>
      </p:sp>
      <p:sp>
        <p:nvSpPr>
          <p:cNvPr id="9" name="Finday managed database badge"/>
          <p:cNvSpPr/>
          <p:nvPr/>
        </p:nvSpPr>
        <p:spPr>
          <a:xfrm>
            <a:off x="4937760" y="16002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Finday managed 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Finday managed database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Google account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Managed, secure storage for your hospital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Records kept separate for your hospital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Switch storage later through an approved request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D3C8"/>
                </a:solidFill>
              </a:rPr>
              <a:t>Finday is built for financial records. It does not hold patient clinical records.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designed for hospital finance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Separate workspace badg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Separate worksp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Separate workspace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Your hospital's data is kept separate from every other organization.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Role-based access badg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0" name="Image 1" descr="Role-based ac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Role-based access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Owners, admins, managers and members see only what their role needs.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Encrypted connections badge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5" name="Image 2" descr="Encrypted connec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Encrypted connections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travels over HTTPS. Sign-in uses password rules and email codes.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Always portable badg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0" name="Image 3" descr="Always port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Always portable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Export statements as PDF and data as Excel or CSV whenever needed.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Hospital compliance requirements should be reviewed with us before go-live.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stay with spreadsheets?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688336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your hospital needs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entry by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commission 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 and patient dues with 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P&amp;L, Balance Sheet, Cash 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dashboard for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 your own Google Drive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Finday covers financial operations. Clinical record-keeping is outside its scope.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for hospitals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1,999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per month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Yearly: 23,988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login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Finday managed database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Professional Drive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2,499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per month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Yearly: 29,988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login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Your Google Drive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Business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2,499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C8"/>
                </a:solidFill>
              </a:rPr>
              <a:t>per month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C8"/>
                </a:solidFill>
              </a:rPr>
              <a:t>Yearly: 29,988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logins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8FD3C8"/>
                </a:solidFill>
              </a:rPr>
              <a:t>Finday</a:t>
            </a:r>
            <a:r>
              <a:rPr lang="en-US" sz="1400" dirty="0">
                <a:solidFill>
                  <a:srgbClr val="8FD3C8"/>
                </a:solidFill>
              </a:rPr>
              <a:t> managed database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0372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866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Business Drive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2,999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per month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Yearly: 35,988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logins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Your Google Drive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Indicative prices in INR, per plan. Every plan starts with a 14-day trial. Confirm the final price and GST before signing.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your hospital's numbers in one place</a:t>
            </a:r>
            <a:endParaRPr lang="en-US" sz="3600" dirty="0"/>
          </a:p>
        </p:txBody>
      </p:sp>
      <p:sp>
        <p:nvSpPr>
          <p:cNvPr id="3" name="next 1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377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Book a demo built around your departments and doctors</a:t>
            </a:r>
            <a:endParaRPr lang="en-US" sz="1800" dirty="0"/>
          </a:p>
        </p:txBody>
      </p:sp>
      <p:sp>
        <p:nvSpPr>
          <p:cNvPr id="6" name="next 2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154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Start a 14-day trial and connect your Google Drive</a:t>
            </a:r>
            <a:endParaRPr lang="en-US" sz="1800" dirty="0"/>
          </a:p>
        </p:txBody>
      </p:sp>
      <p:sp>
        <p:nvSpPr>
          <p:cNvPr id="9" name="next 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319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Set up departments, doctors and bank accounts with us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day">
  <a:themeElements>
    <a:clrScheme name="Finday">
      <a:dk1>
        <a:srgbClr val="13242B"/>
      </a:dk1>
      <a:lt1>
        <a:srgbClr val="FFFFFF"/>
      </a:lt1>
      <a:dk2>
        <a:srgbClr val="0B3B3C"/>
      </a:dk2>
      <a:lt2>
        <a:srgbClr val="EAF4F2"/>
      </a:lt2>
      <a:accent1>
        <a:srgbClr val="1FA89A"/>
      </a:accent1>
      <a:accent2>
        <a:srgbClr val="F2A541"/>
      </a:accent2>
      <a:accent3>
        <a:srgbClr val="5E7C82"/>
      </a:accent3>
      <a:accent4>
        <a:srgbClr val="2F6F73"/>
      </a:accent4>
      <a:accent5>
        <a:srgbClr val="D9644A"/>
      </a:accent5>
      <a:accent6>
        <a:srgbClr val="8FD3C8"/>
      </a:accent6>
      <a:hlink>
        <a:srgbClr val="1FA89A"/>
      </a:hlink>
      <a:folHlink>
        <a:srgbClr val="5E7C82"/>
      </a:folHlink>
    </a:clrScheme>
    <a:fontScheme name="Finda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897</Words>
  <Application>Microsoft Office PowerPoint</Application>
  <PresentationFormat>On-screen Show (16:9)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Finday</vt:lpstr>
      <vt:lpstr>PowerPoint Presentation</vt:lpstr>
      <vt:lpstr>A hospital is many businesses in one</vt:lpstr>
      <vt:lpstr>Six issues slowing hospital finance</vt:lpstr>
      <vt:lpstr>What Finday changes for your hospital</vt:lpstr>
      <vt:lpstr>Three steps from entry to decision</vt:lpstr>
      <vt:lpstr>Built around hospital operations</vt:lpstr>
      <vt:lpstr>Six months of hospital revenue</vt:lpstr>
      <vt:lpstr>PowerPoint Presentation</vt:lpstr>
      <vt:lpstr>Security designed for hospital finance</vt:lpstr>
      <vt:lpstr>Why not stay with spreadsheets?</vt:lpstr>
      <vt:lpstr>Plans for hospitals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Finday Intelligence for Hospitals</dc:title>
  <dc:subject>PptxGenJS Presentation</dc:subject>
  <dc:creator>PptxGenJS</dc:creator>
  <cp:lastModifiedBy>sreekar babu bejjanki</cp:lastModifiedBy>
  <cp:revision>2</cp:revision>
  <dcterms:created xsi:type="dcterms:W3CDTF">2026-10-12T11:46:53Z</dcterms:created>
  <dcterms:modified xsi:type="dcterms:W3CDTF">2026-10-12T11:55:40Z</dcterms:modified>
</cp:coreProperties>
</file>